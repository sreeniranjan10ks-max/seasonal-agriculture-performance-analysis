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409bfff480b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g409bfff480b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409bfff480b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409bfff480b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409bfff480b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409bfff480b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409bfff480b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409bfff480b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hyperlink" Target="https://github.com/sreeniranjan10ks-max/Seasonal-Agriculture-Performance-Analysis.git"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223152" y="3583925"/>
            <a:ext cx="7690800" cy="861600"/>
          </a:xfrm>
          <a:prstGeom prst="rect">
            <a:avLst/>
          </a:prstGeom>
          <a:noFill/>
          <a:ln>
            <a:noFill/>
          </a:ln>
        </p:spPr>
        <p:txBody>
          <a:bodyPr anchorCtr="0" anchor="t" bIns="45700" lIns="91425" spcFirstLastPara="1" rIns="91425" wrap="square" tIns="45700">
            <a:normAutofit fontScale="85000"/>
          </a:bodyPr>
          <a:lstStyle/>
          <a:p>
            <a:pPr indent="0" lvl="0" marL="0" rtl="0" algn="just">
              <a:spcBef>
                <a:spcPts val="0"/>
              </a:spcBef>
              <a:spcAft>
                <a:spcPts val="0"/>
              </a:spcAft>
              <a:buSzPct val="75555"/>
              <a:buNone/>
            </a:pPr>
            <a:r>
              <a:rPr b="0" lang="en-US">
                <a:solidFill>
                  <a:schemeClr val="dk1"/>
                </a:solidFill>
              </a:rPr>
              <a:t>           </a:t>
            </a:r>
            <a:r>
              <a:rPr b="0" lang="en-US" sz="2118">
                <a:solidFill>
                  <a:schemeClr val="dk1"/>
                </a:solidFill>
              </a:rPr>
              <a:t> </a:t>
            </a:r>
            <a:r>
              <a:rPr b="0" lang="en-US" sz="2118">
                <a:solidFill>
                  <a:schemeClr val="dk1"/>
                </a:solidFill>
              </a:rPr>
              <a:t>Student Name: K S Sreeniranjan </a:t>
            </a:r>
            <a:endParaRPr b="0" sz="2118">
              <a:solidFill>
                <a:schemeClr val="dk1"/>
              </a:solidFill>
            </a:endParaRPr>
          </a:p>
          <a:p>
            <a:pPr indent="0" lvl="0" marL="0" rtl="0" algn="just">
              <a:spcBef>
                <a:spcPts val="1000"/>
              </a:spcBef>
              <a:spcAft>
                <a:spcPts val="0"/>
              </a:spcAft>
              <a:buSzPct val="75555"/>
              <a:buNone/>
            </a:pPr>
            <a:r>
              <a:rPr b="0" lang="en-US">
                <a:solidFill>
                  <a:schemeClr val="dk1"/>
                </a:solidFill>
              </a:rPr>
              <a:t>      </a:t>
            </a:r>
            <a:r>
              <a:rPr b="0" lang="en-US" sz="2118">
                <a:solidFill>
                  <a:schemeClr val="dk1"/>
                </a:solidFill>
              </a:rPr>
              <a:t>College Name-: Nehru College of Engineering and Research Centre </a:t>
            </a:r>
            <a:endParaRPr b="0" sz="2118">
              <a:solidFill>
                <a:schemeClr val="dk1"/>
              </a:solidFill>
            </a:endParaRPr>
          </a:p>
        </p:txBody>
      </p:sp>
      <p:sp>
        <p:nvSpPr>
          <p:cNvPr id="198" name="Google Shape;198;p23"/>
          <p:cNvSpPr txBox="1"/>
          <p:nvPr>
            <p:ph type="title"/>
          </p:nvPr>
        </p:nvSpPr>
        <p:spPr>
          <a:xfrm>
            <a:off x="675950" y="344850"/>
            <a:ext cx="7690800" cy="2449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Project Title -</a:t>
            </a:r>
            <a:r>
              <a:rPr lang="en-US" sz="1100">
                <a:latin typeface="Arial"/>
                <a:ea typeface="Arial"/>
                <a:cs typeface="Arial"/>
                <a:sym typeface="Arial"/>
              </a:rPr>
              <a:t> </a:t>
            </a:r>
            <a:r>
              <a:rPr lang="en-US" sz="3067"/>
              <a:t>Optimizing Agricultural Yield and Profitability: A Seasonal Performance Analysis</a:t>
            </a:r>
            <a:r>
              <a:rPr lang="en-US" sz="2211"/>
              <a:t> </a:t>
            </a:r>
            <a:endParaRPr sz="4311"/>
          </a:p>
        </p:txBody>
      </p:sp>
      <p:sp>
        <p:nvSpPr>
          <p:cNvPr id="199" name="Google Shape;199;p23"/>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23"/>
          <p:cNvSpPr txBox="1"/>
          <p:nvPr/>
        </p:nvSpPr>
        <p:spPr>
          <a:xfrm>
            <a:off x="2472275" y="5198525"/>
            <a:ext cx="75495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rebuchet MS"/>
                <a:ea typeface="Trebuchet MS"/>
                <a:cs typeface="Trebuchet MS"/>
                <a:sym typeface="Trebuchet MS"/>
              </a:rPr>
              <a:t>AICTE STU ID : </a:t>
            </a:r>
            <a:r>
              <a:rPr b="1" lang="en-US" sz="1800">
                <a:solidFill>
                  <a:schemeClr val="dk1"/>
                </a:solidFill>
                <a:latin typeface="Trebuchet MS"/>
                <a:ea typeface="Trebuchet MS"/>
                <a:cs typeface="Trebuchet MS"/>
                <a:sym typeface="Trebuchet MS"/>
              </a:rPr>
              <a:t>STU69aed98b157c21773066635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body"/>
          </p:nvPr>
        </p:nvSpPr>
        <p:spPr>
          <a:xfrm>
            <a:off x="1046480" y="1875556"/>
            <a:ext cx="6431280" cy="3607987"/>
          </a:xfrm>
          <a:prstGeom prst="rect">
            <a:avLst/>
          </a:prstGeom>
          <a:noFill/>
          <a:ln>
            <a:noFill/>
          </a:ln>
        </p:spPr>
        <p:txBody>
          <a:bodyPr anchorCtr="0" anchor="t" bIns="45700" lIns="91425" spcFirstLastPara="1" rIns="91425" wrap="square" tIns="45700">
            <a:noAutofit/>
          </a:bodyPr>
          <a:lstStyle/>
          <a:p>
            <a:pPr indent="-314960" lvl="0" marL="342900" rtl="0" algn="l">
              <a:lnSpc>
                <a:spcPct val="130000"/>
              </a:lnSpc>
              <a:spcBef>
                <a:spcPts val="0"/>
              </a:spcBef>
              <a:spcAft>
                <a:spcPts val="0"/>
              </a:spcAft>
              <a:buSzPts val="1800"/>
              <a:buChar char="▪"/>
            </a:pPr>
            <a:r>
              <a:rPr lang="en-US" sz="1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sz="1800"/>
          </a:p>
        </p:txBody>
      </p:sp>
      <p:sp>
        <p:nvSpPr>
          <p:cNvPr id="207" name="Google Shape;207;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4"/>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4"/>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25"/>
          <p:cNvSpPr txBox="1"/>
          <p:nvPr>
            <p:ph type="title"/>
          </p:nvPr>
        </p:nvSpPr>
        <p:spPr>
          <a:xfrm>
            <a:off x="660401" y="805225"/>
            <a:ext cx="10179900" cy="3895800"/>
          </a:xfrm>
          <a:prstGeom prst="rect">
            <a:avLst/>
          </a:prstGeom>
          <a:noFill/>
          <a:ln>
            <a:noFill/>
          </a:ln>
        </p:spPr>
        <p:txBody>
          <a:bodyPr anchorCtr="0" anchor="t" bIns="45700" lIns="91425" spcFirstLastPara="1" rIns="91425" wrap="square" tIns="45700">
            <a:noAutofit/>
          </a:bodyPr>
          <a:lstStyle/>
          <a:p>
            <a:pPr indent="9144" lvl="0" marL="0" rtl="0" algn="l">
              <a:spcBef>
                <a:spcPts val="0"/>
              </a:spcBef>
              <a:spcAft>
                <a:spcPts val="0"/>
              </a:spcAft>
              <a:buClr>
                <a:schemeClr val="dk1"/>
              </a:buClr>
              <a:buSzPts val="4800"/>
              <a:buFont typeface="Trebuchet MS"/>
              <a:buNone/>
            </a:pPr>
            <a:r>
              <a:rPr lang="en-US"/>
              <a:t>Project Description:   </a:t>
            </a:r>
            <a:br>
              <a:rPr lang="en-US"/>
            </a:br>
            <a:r>
              <a:rPr b="0" lang="en-US" sz="1978"/>
              <a:t>An exploratory data analytics project investigating seasonal variations in crop yield, financial profitability, environmental parameters, and resourcemanagement across4,000 farm samples</a:t>
            </a:r>
            <a:r>
              <a:rPr b="0" lang="en-US" sz="2578"/>
              <a:t> </a:t>
            </a:r>
            <a:r>
              <a:rPr lang="en-US"/>
              <a:t> </a:t>
            </a:r>
            <a:br>
              <a:rPr lang="en-US"/>
            </a:br>
            <a:endParaRPr/>
          </a:p>
        </p:txBody>
      </p:sp>
      <p:pic>
        <p:nvPicPr>
          <p:cNvPr id="215" name="Google Shape;215;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1. Farmers &amp; Agricultural Cooperatives</a:t>
            </a:r>
            <a:r>
              <a:rPr lang="en-US" sz="1700">
                <a:solidFill>
                  <a:schemeClr val="dk1"/>
                </a:solidFill>
              </a:rPr>
              <a:t> (Optimal seasonal crop choices)</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2. Policymakers &amp; Government Agencies</a:t>
            </a:r>
            <a:r>
              <a:rPr lang="en-US" sz="1700">
                <a:solidFill>
                  <a:schemeClr val="dk1"/>
                </a:solidFill>
              </a:rPr>
              <a:t> (Targeted subsidies &amp; water management)</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700">
                <a:solidFill>
                  <a:schemeClr val="dk1"/>
                </a:solidFill>
              </a:rPr>
              <a:t>3. Agritech &amp; Supply Chain Managers</a:t>
            </a:r>
            <a:r>
              <a:rPr lang="en-US" sz="1700">
                <a:solidFill>
                  <a:schemeClr val="dk1"/>
                </a:solidFill>
              </a:rPr>
              <a:t> (Resource scheduling &amp; market pricing)</a:t>
            </a:r>
            <a:endParaRPr sz="1700">
              <a:solidFill>
                <a:schemeClr val="dk1"/>
              </a:solidFill>
            </a:endParaRPr>
          </a:p>
          <a:p>
            <a:pPr indent="-160020" lvl="0" marL="342900" rtl="0" algn="just">
              <a:lnSpc>
                <a:spcPct val="150000"/>
              </a:lnSpc>
              <a:spcBef>
                <a:spcPts val="1200"/>
              </a:spcBef>
              <a:spcAft>
                <a:spcPts val="0"/>
              </a:spcAft>
              <a:buSzPts val="2880"/>
              <a:buNone/>
            </a:pPr>
            <a:r>
              <a:t/>
            </a:r>
            <a:endParaRPr sz="3600"/>
          </a:p>
        </p:txBody>
      </p:sp>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Effect filter="fade" transition="in">
                                      <p:cBhvr>
                                        <p:cTn dur="1000"/>
                                        <p:tgtEl>
                                          <p:spTgt spid="2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8"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1" name="Google Shape;231;p27"/>
          <p:cNvSpPr txBox="1"/>
          <p:nvPr>
            <p:ph idx="1" type="body"/>
          </p:nvPr>
        </p:nvSpPr>
        <p:spPr>
          <a:xfrm>
            <a:off x="390618" y="1432560"/>
            <a:ext cx="9027702" cy="5243448"/>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None/>
            </a:pPr>
            <a:r>
              <a:rPr b="1" lang="en-US" sz="1900">
                <a:solidFill>
                  <a:schemeClr val="dk1"/>
                </a:solidFill>
                <a:latin typeface="Arial"/>
                <a:ea typeface="Arial"/>
                <a:cs typeface="Arial"/>
                <a:sym typeface="Arial"/>
              </a:rPr>
              <a:t>Python</a:t>
            </a:r>
            <a:r>
              <a:rPr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Pandas</a:t>
            </a:r>
            <a:r>
              <a:rPr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Matplotlib</a:t>
            </a:r>
            <a:r>
              <a:rPr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Seaborn</a:t>
            </a:r>
            <a:r>
              <a:rPr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Google Colab</a:t>
            </a:r>
            <a:r>
              <a:rPr lang="en-US" sz="1900">
                <a:solidFill>
                  <a:schemeClr val="dk1"/>
                </a:solidFill>
                <a:latin typeface="Arial"/>
                <a:ea typeface="Arial"/>
                <a:cs typeface="Arial"/>
                <a:sym typeface="Arial"/>
              </a:rPr>
              <a:t>, </a:t>
            </a:r>
            <a:r>
              <a:rPr b="1" lang="en-US" sz="1900">
                <a:solidFill>
                  <a:schemeClr val="dk1"/>
                </a:solidFill>
                <a:latin typeface="Arial"/>
                <a:ea typeface="Arial"/>
                <a:cs typeface="Arial"/>
                <a:sym typeface="Arial"/>
              </a:rPr>
              <a:t>Jupyter Notebook</a:t>
            </a:r>
            <a:r>
              <a:rPr lang="en-US" sz="1900">
                <a:solidFill>
                  <a:schemeClr val="dk1"/>
                </a:solidFill>
                <a:latin typeface="Arial"/>
                <a:ea typeface="Arial"/>
                <a:cs typeface="Arial"/>
                <a:sym typeface="Arial"/>
              </a:rPr>
              <a:t> </a:t>
            </a:r>
            <a:endParaRPr sz="3000"/>
          </a:p>
        </p:txBody>
      </p:sp>
      <p:sp>
        <p:nvSpPr>
          <p:cNvPr id="232" name="Google Shape;232;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1000"/>
                                        <p:tgtEl>
                                          <p:spTgt spid="23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8" name="Google Shape;238;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39" name="Google Shape;239;p2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0" name="Google Shape;240;p2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1" name="Google Shape;241;p28"/>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42" name="Google Shape;242;p28" title="Screenshot (161).png"/>
          <p:cNvPicPr preferRelativeResize="0"/>
          <p:nvPr/>
        </p:nvPicPr>
        <p:blipFill>
          <a:blip r:embed="rId4">
            <a:alphaModFix/>
          </a:blip>
          <a:stretch>
            <a:fillRect/>
          </a:stretch>
        </p:blipFill>
        <p:spPr>
          <a:xfrm>
            <a:off x="647700" y="1088675"/>
            <a:ext cx="10227398" cy="5576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animEffect filter="fade" transition="in">
                                      <p:cBhvr>
                                        <p:cTn dur="1000"/>
                                        <p:tgtEl>
                                          <p:spTgt spid="24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8" name="Google Shape;248;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9" name="Google Shape;249;p2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0" name="Google Shape;250;p2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29"/>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52" name="Google Shape;252;p29" title="Screenshot (162).png"/>
          <p:cNvPicPr preferRelativeResize="0"/>
          <p:nvPr/>
        </p:nvPicPr>
        <p:blipFill>
          <a:blip r:embed="rId4">
            <a:alphaModFix/>
          </a:blip>
          <a:stretch>
            <a:fillRect/>
          </a:stretch>
        </p:blipFill>
        <p:spPr>
          <a:xfrm>
            <a:off x="807175" y="1047000"/>
            <a:ext cx="10554427" cy="5658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ppt_w</p:attrName>
                                        </p:attrNameLst>
                                      </p:cBhvr>
                                      <p:tavLst>
                                        <p:tav fmla="" tm="0">
                                          <p:val>
                                            <p:strVal val="0"/>
                                          </p:val>
                                        </p:tav>
                                        <p:tav fmla="" tm="100000">
                                          <p:val>
                                            <p:strVal val="#ppt_w"/>
                                          </p:val>
                                        </p:tav>
                                      </p:tavLst>
                                    </p:anim>
                                    <p:anim calcmode="lin" valueType="num">
                                      <p:cBhvr additive="base">
                                        <p:cTn dur="500"/>
                                        <p:tgtEl>
                                          <p:spTgt spid="24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8" name="Google Shape;258;p3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59" name="Google Shape;259;p3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0" name="Google Shape;260;p3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1" name="Google Shape;261;p30"/>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62" name="Google Shape;262;p30" title="Screenshot (163).png"/>
          <p:cNvPicPr preferRelativeResize="0"/>
          <p:nvPr/>
        </p:nvPicPr>
        <p:blipFill>
          <a:blip r:embed="rId4">
            <a:alphaModFix/>
          </a:blip>
          <a:stretch>
            <a:fillRect/>
          </a:stretch>
        </p:blipFill>
        <p:spPr>
          <a:xfrm>
            <a:off x="675950" y="1132325"/>
            <a:ext cx="10868352" cy="55732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ppt_w</p:attrName>
                                        </p:attrNameLst>
                                      </p:cBhvr>
                                      <p:tavLst>
                                        <p:tav fmla="" tm="0">
                                          <p:val>
                                            <p:strVal val="0"/>
                                          </p:val>
                                        </p:tav>
                                        <p:tav fmla="" tm="100000">
                                          <p:val>
                                            <p:strVal val="#ppt_w"/>
                                          </p:val>
                                        </p:tav>
                                      </p:tavLst>
                                    </p:anim>
                                    <p:anim calcmode="lin" valueType="num">
                                      <p:cBhvr additive="base">
                                        <p:cTn dur="500"/>
                                        <p:tgtEl>
                                          <p:spTgt spid="25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10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1000"/>
                                        <p:tgtEl>
                                          <p:spTgt spid="26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8" name="Google Shape;268;p31"/>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9" name="Google Shape;269;p3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0" name="Google Shape;270;p3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1" name="Google Shape;271;p31"/>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72" name="Google Shape;272;p31" title="Screenshot (165).png"/>
          <p:cNvPicPr preferRelativeResize="0"/>
          <p:nvPr/>
        </p:nvPicPr>
        <p:blipFill>
          <a:blip r:embed="rId4">
            <a:alphaModFix/>
          </a:blip>
          <a:stretch>
            <a:fillRect/>
          </a:stretch>
        </p:blipFill>
        <p:spPr>
          <a:xfrm>
            <a:off x="647700" y="1201575"/>
            <a:ext cx="10505626" cy="5504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ppt_w</p:attrName>
                                        </p:attrNameLst>
                                      </p:cBhvr>
                                      <p:tavLst>
                                        <p:tav fmla="" tm="0">
                                          <p:val>
                                            <p:strVal val="0"/>
                                          </p:val>
                                        </p:tav>
                                        <p:tav fmla="" tm="100000">
                                          <p:val>
                                            <p:strVal val="#ppt_w"/>
                                          </p:val>
                                        </p:tav>
                                      </p:tavLst>
                                    </p:anim>
                                    <p:anim calcmode="lin" valueType="num">
                                      <p:cBhvr additive="base">
                                        <p:cTn dur="500"/>
                                        <p:tgtEl>
                                          <p:spTgt spid="26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pic>
        <p:nvPicPr>
          <p:cNvPr id="277" name="Google Shape;277;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8" name="Google Shape;278;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9" name="Google Shape;279;p3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0" name="Google Shape;280;p3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1" name="Google Shape;281;p32"/>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82" name="Google Shape;282;p32" title="Screenshot (166).png"/>
          <p:cNvPicPr preferRelativeResize="0"/>
          <p:nvPr/>
        </p:nvPicPr>
        <p:blipFill>
          <a:blip r:embed="rId4">
            <a:alphaModFix/>
          </a:blip>
          <a:stretch>
            <a:fillRect/>
          </a:stretch>
        </p:blipFill>
        <p:spPr>
          <a:xfrm>
            <a:off x="744450" y="1117875"/>
            <a:ext cx="10604174" cy="5587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ppt_w</p:attrName>
                                        </p:attrNameLst>
                                      </p:cBhvr>
                                      <p:tavLst>
                                        <p:tav fmla="" tm="0">
                                          <p:val>
                                            <p:strVal val="0"/>
                                          </p:val>
                                        </p:tav>
                                        <p:tav fmla="" tm="100000">
                                          <p:val>
                                            <p:strVal val="#ppt_w"/>
                                          </p:val>
                                        </p:tav>
                                      </p:tavLst>
                                    </p:anim>
                                    <p:anim calcmode="lin" valueType="num">
                                      <p:cBhvr additive="base">
                                        <p:cTn dur="500"/>
                                        <p:tgtEl>
                                          <p:spTgt spid="27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10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animEffect filter="fade" transition="in">
                                      <p:cBhvr>
                                        <p:cTn dur="1000"/>
                                        <p:tgtEl>
                                          <p:spTgt spid="28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8" name="Google Shape;288;p33"/>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89" name="Google Shape;289;p33"/>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0" name="Google Shape;290;p33"/>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1" name="Google Shape;291;p33"/>
          <p:cNvSpPr txBox="1"/>
          <p:nvPr>
            <p:ph idx="1" type="body"/>
          </p:nvPr>
        </p:nvSpPr>
        <p:spPr>
          <a:xfrm>
            <a:off x="807164" y="1431693"/>
            <a:ext cx="4275000" cy="477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92" name="Google Shape;292;p33" title="plot1_yield_profit_by_season.png"/>
          <p:cNvPicPr preferRelativeResize="0"/>
          <p:nvPr/>
        </p:nvPicPr>
        <p:blipFill>
          <a:blip r:embed="rId4">
            <a:alphaModFix/>
          </a:blip>
          <a:stretch>
            <a:fillRect/>
          </a:stretch>
        </p:blipFill>
        <p:spPr>
          <a:xfrm>
            <a:off x="152400" y="1117876"/>
            <a:ext cx="11268675" cy="5201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ppt_w</p:attrName>
                                        </p:attrNameLst>
                                      </p:cBhvr>
                                      <p:tavLst>
                                        <p:tav fmla="" tm="0">
                                          <p:val>
                                            <p:strVal val="0"/>
                                          </p:val>
                                        </p:tav>
                                        <p:tav fmla="" tm="100000">
                                          <p:val>
                                            <p:strVal val="#ppt_w"/>
                                          </p:val>
                                        </p:tav>
                                      </p:tavLst>
                                    </p:anim>
                                    <p:anim calcmode="lin" valueType="num">
                                      <p:cBhvr additive="base">
                                        <p:cTn dur="500"/>
                                        <p:tgtEl>
                                          <p:spTgt spid="28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animEffect filter="fade" transition="in">
                                      <p:cBhvr>
                                        <p:cTn dur="1000"/>
                                        <p:tgtEl>
                                          <p:spTgt spid="29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8" name="Google Shape;298;p34"/>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99" name="Google Shape;299;p34"/>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0" name="Google Shape;300;p34"/>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1" name="Google Shape;301;p34"/>
          <p:cNvSpPr txBox="1"/>
          <p:nvPr>
            <p:ph idx="1" type="body"/>
          </p:nvPr>
        </p:nvSpPr>
        <p:spPr>
          <a:xfrm>
            <a:off x="807164" y="1431693"/>
            <a:ext cx="4275000" cy="477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302" name="Google Shape;302;p34" title="plot2_environmental_factors_by_season.png"/>
          <p:cNvPicPr preferRelativeResize="0"/>
          <p:nvPr/>
        </p:nvPicPr>
        <p:blipFill>
          <a:blip r:embed="rId4">
            <a:alphaModFix/>
          </a:blip>
          <a:stretch>
            <a:fillRect/>
          </a:stretch>
        </p:blipFill>
        <p:spPr>
          <a:xfrm>
            <a:off x="128475" y="1124326"/>
            <a:ext cx="11268675" cy="5223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ppt_w</p:attrName>
                                        </p:attrNameLst>
                                      </p:cBhvr>
                                      <p:tavLst>
                                        <p:tav fmla="" tm="0">
                                          <p:val>
                                            <p:strVal val="0"/>
                                          </p:val>
                                        </p:tav>
                                        <p:tav fmla="" tm="100000">
                                          <p:val>
                                            <p:strVal val="#ppt_w"/>
                                          </p:val>
                                        </p:tav>
                                      </p:tavLst>
                                    </p:anim>
                                    <p:anim calcmode="lin" valueType="num">
                                      <p:cBhvr additive="base">
                                        <p:cTn dur="500"/>
                                        <p:tgtEl>
                                          <p:spTgt spid="2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Effect filter="fade" transition="in">
                                      <p:cBhvr>
                                        <p:cTn dur="1000"/>
                                        <p:tgtEl>
                                          <p:spTgt spid="30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8" name="Google Shape;308;p35"/>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309" name="Google Shape;309;p35"/>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0" name="Google Shape;310;p35"/>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1" name="Google Shape;311;p35"/>
          <p:cNvSpPr txBox="1"/>
          <p:nvPr>
            <p:ph idx="1" type="body"/>
          </p:nvPr>
        </p:nvSpPr>
        <p:spPr>
          <a:xfrm>
            <a:off x="807164" y="1431693"/>
            <a:ext cx="4275000" cy="477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312" name="Google Shape;312;p35" title="plot3_efficiency_risk_by_season.png"/>
          <p:cNvPicPr preferRelativeResize="0"/>
          <p:nvPr/>
        </p:nvPicPr>
        <p:blipFill>
          <a:blip r:embed="rId4">
            <a:alphaModFix/>
          </a:blip>
          <a:stretch>
            <a:fillRect/>
          </a:stretch>
        </p:blipFill>
        <p:spPr>
          <a:xfrm>
            <a:off x="152400" y="1201600"/>
            <a:ext cx="11268675" cy="53619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500"/>
                                        <p:tgtEl>
                                          <p:spTgt spid="308"/>
                                        </p:tgtEl>
                                        <p:attrNameLst>
                                          <p:attrName>ppt_w</p:attrName>
                                        </p:attrNameLst>
                                      </p:cBhvr>
                                      <p:tavLst>
                                        <p:tav fmla="" tm="0">
                                          <p:val>
                                            <p:strVal val="0"/>
                                          </p:val>
                                        </p:tav>
                                        <p:tav fmla="" tm="100000">
                                          <p:val>
                                            <p:strVal val="#ppt_w"/>
                                          </p:val>
                                        </p:tav>
                                      </p:tavLst>
                                    </p:anim>
                                    <p:anim calcmode="lin" valueType="num">
                                      <p:cBhvr additive="base">
                                        <p:cTn dur="500"/>
                                        <p:tgtEl>
                                          <p:spTgt spid="3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xEl>
                                              <p:pRg end="0" st="0"/>
                                            </p:txEl>
                                          </p:spTgt>
                                        </p:tgtEl>
                                        <p:attrNameLst>
                                          <p:attrName>style.visibility</p:attrName>
                                        </p:attrNameLst>
                                      </p:cBhvr>
                                      <p:to>
                                        <p:strVal val="visible"/>
                                      </p:to>
                                    </p:set>
                                    <p:animEffect filter="fade" transition="in">
                                      <p:cBhvr>
                                        <p:cTn dur="1000"/>
                                        <p:tgtEl>
                                          <p:spTgt spid="31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18" name="Google Shape;318;p36"/>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319" name="Google Shape;319;p36"/>
          <p:cNvSpPr txBox="1"/>
          <p:nvPr/>
        </p:nvSpPr>
        <p:spPr>
          <a:xfrm>
            <a:off x="320982"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20" name="Google Shape;320;p36"/>
          <p:cNvSpPr txBox="1"/>
          <p:nvPr/>
        </p:nvSpPr>
        <p:spPr>
          <a:xfrm>
            <a:off x="4345694" y="1275371"/>
            <a:ext cx="3343500" cy="66600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21" name="Google Shape;321;p36"/>
          <p:cNvSpPr txBox="1"/>
          <p:nvPr>
            <p:ph idx="1" type="body"/>
          </p:nvPr>
        </p:nvSpPr>
        <p:spPr>
          <a:xfrm>
            <a:off x="807164" y="1431693"/>
            <a:ext cx="4275000" cy="477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322" name="Google Shape;322;p36" title="plot4_profit_by_irrigation_season.png"/>
          <p:cNvPicPr preferRelativeResize="0"/>
          <p:nvPr/>
        </p:nvPicPr>
        <p:blipFill>
          <a:blip r:embed="rId4">
            <a:alphaModFix/>
          </a:blip>
          <a:stretch>
            <a:fillRect/>
          </a:stretch>
        </p:blipFill>
        <p:spPr>
          <a:xfrm>
            <a:off x="675950" y="1201600"/>
            <a:ext cx="11363651" cy="5426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8"/>
                                        </p:tgtEl>
                                        <p:attrNameLst>
                                          <p:attrName>style.visibility</p:attrName>
                                        </p:attrNameLst>
                                      </p:cBhvr>
                                      <p:to>
                                        <p:strVal val="visible"/>
                                      </p:to>
                                    </p:set>
                                    <p:anim calcmode="lin" valueType="num">
                                      <p:cBhvr additive="base">
                                        <p:cTn dur="500"/>
                                        <p:tgtEl>
                                          <p:spTgt spid="318"/>
                                        </p:tgtEl>
                                        <p:attrNameLst>
                                          <p:attrName>ppt_w</p:attrName>
                                        </p:attrNameLst>
                                      </p:cBhvr>
                                      <p:tavLst>
                                        <p:tav fmla="" tm="0">
                                          <p:val>
                                            <p:strVal val="0"/>
                                          </p:val>
                                        </p:tav>
                                        <p:tav fmla="" tm="100000">
                                          <p:val>
                                            <p:strVal val="#ppt_w"/>
                                          </p:val>
                                        </p:tav>
                                      </p:tavLst>
                                    </p:anim>
                                    <p:anim calcmode="lin" valueType="num">
                                      <p:cBhvr additive="base">
                                        <p:cTn dur="500"/>
                                        <p:tgtEl>
                                          <p:spTgt spid="31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1000"/>
                                        <p:tgtEl>
                                          <p:spTgt spid="32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37"/>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28" name="Google Shape;328;p37"/>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329" name="Google Shape;329;p37"/>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30" name="Google Shape;330;p37"/>
          <p:cNvSpPr txBox="1"/>
          <p:nvPr/>
        </p:nvSpPr>
        <p:spPr>
          <a:xfrm>
            <a:off x="933150" y="1338625"/>
            <a:ext cx="8790000" cy="473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latin typeface="Trebuchet MS"/>
                <a:ea typeface="Trebuchet MS"/>
                <a:cs typeface="Trebuchet MS"/>
                <a:sym typeface="Trebuchet MS"/>
              </a:rPr>
              <a:t>Predictive ML Modeling:</a:t>
            </a:r>
            <a:r>
              <a:rPr lang="en-US" sz="1900">
                <a:solidFill>
                  <a:schemeClr val="dk1"/>
                </a:solidFill>
                <a:latin typeface="Trebuchet MS"/>
                <a:ea typeface="Trebuchet MS"/>
                <a:cs typeface="Trebuchet MS"/>
                <a:sym typeface="Trebuchet MS"/>
              </a:rPr>
              <a:t> Implement Machine Learning models (e.g., Random Forest, XGBoost) to forecast seasonal crop yields and financial profits based on real-time weather and soil inputs.</a:t>
            </a:r>
            <a:endParaRPr sz="19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latin typeface="Trebuchet MS"/>
                <a:ea typeface="Trebuchet MS"/>
                <a:cs typeface="Trebuchet MS"/>
                <a:sym typeface="Trebuchet MS"/>
              </a:rPr>
              <a:t>IoT &amp; Precision Agriculture:</a:t>
            </a:r>
            <a:r>
              <a:rPr lang="en-US" sz="1900">
                <a:solidFill>
                  <a:schemeClr val="dk1"/>
                </a:solidFill>
                <a:latin typeface="Trebuchet MS"/>
                <a:ea typeface="Trebuchet MS"/>
                <a:cs typeface="Trebuchet MS"/>
                <a:sym typeface="Trebuchet MS"/>
              </a:rPr>
              <a:t> Integrate real-time IoT sensor data (soil moisture, pH, humidity) to automate drip irrigation schedules and reduce water wastage.</a:t>
            </a:r>
            <a:endParaRPr sz="19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latin typeface="Trebuchet MS"/>
                <a:ea typeface="Trebuchet MS"/>
                <a:cs typeface="Trebuchet MS"/>
                <a:sym typeface="Trebuchet MS"/>
              </a:rPr>
              <a:t>Climate-Resilient Crop Recommendation:</a:t>
            </a:r>
            <a:r>
              <a:rPr lang="en-US" sz="1900">
                <a:solidFill>
                  <a:schemeClr val="dk1"/>
                </a:solidFill>
                <a:latin typeface="Trebuchet MS"/>
                <a:ea typeface="Trebuchet MS"/>
                <a:cs typeface="Trebuchet MS"/>
                <a:sym typeface="Trebuchet MS"/>
              </a:rPr>
              <a:t> Develop AI-driven recommendation engines that suggest optimal crop choices and pest control strategies during harsh seasons like Zaid.</a:t>
            </a:r>
            <a:endParaRPr sz="1900">
              <a:solidFill>
                <a:schemeClr val="dk1"/>
              </a:solidFill>
              <a:latin typeface="Trebuchet MS"/>
              <a:ea typeface="Trebuchet MS"/>
              <a:cs typeface="Trebuchet MS"/>
              <a:sym typeface="Trebuchet MS"/>
            </a:endParaRPr>
          </a:p>
          <a:p>
            <a:pPr indent="0" lvl="0" marL="0" rtl="0" algn="l">
              <a:lnSpc>
                <a:spcPct val="115000"/>
              </a:lnSpc>
              <a:spcBef>
                <a:spcPts val="0"/>
              </a:spcBef>
              <a:spcAft>
                <a:spcPts val="0"/>
              </a:spcAft>
              <a:buClr>
                <a:schemeClr val="dk1"/>
              </a:buClr>
              <a:buSzPts val="1100"/>
              <a:buFont typeface="Arial"/>
              <a:buNone/>
            </a:pPr>
            <a:r>
              <a:rPr b="1" lang="en-US" sz="1900">
                <a:solidFill>
                  <a:schemeClr val="dk1"/>
                </a:solidFill>
                <a:latin typeface="Trebuchet MS"/>
                <a:ea typeface="Trebuchet MS"/>
                <a:cs typeface="Trebuchet MS"/>
                <a:sym typeface="Trebuchet MS"/>
              </a:rPr>
              <a:t>Granular Geographical Expansion:</a:t>
            </a:r>
            <a:r>
              <a:rPr lang="en-US" sz="1900">
                <a:solidFill>
                  <a:schemeClr val="dk1"/>
                </a:solidFill>
                <a:latin typeface="Trebuchet MS"/>
                <a:ea typeface="Trebuchet MS"/>
                <a:cs typeface="Trebuchet MS"/>
                <a:sym typeface="Trebuchet MS"/>
              </a:rPr>
              <a:t> Expand the analysis across more states, districts, and soil micro-climates to improve localized farming advisories and agricultural policy decisions.</a:t>
            </a:r>
            <a:endParaRPr sz="1900">
              <a:solidFill>
                <a:schemeClr val="dk1"/>
              </a:solidFill>
              <a:latin typeface="Trebuchet MS"/>
              <a:ea typeface="Trebuchet MS"/>
              <a:cs typeface="Trebuchet MS"/>
              <a:sym typeface="Trebuchet MS"/>
            </a:endParaRPr>
          </a:p>
          <a:p>
            <a:pPr indent="0" lvl="0" marL="0" rtl="0" algn="l">
              <a:spcBef>
                <a:spcPts val="0"/>
              </a:spcBef>
              <a:spcAft>
                <a:spcPts val="0"/>
              </a:spcAft>
              <a:buNone/>
            </a:pPr>
            <a:r>
              <a:t/>
            </a:r>
            <a:endParaRPr sz="26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28"/>
                                        </p:tgtEl>
                                        <p:attrNameLst>
                                          <p:attrName>style.visibility</p:attrName>
                                        </p:attrNameLst>
                                      </p:cBhvr>
                                      <p:to>
                                        <p:strVal val="visible"/>
                                      </p:to>
                                    </p:set>
                                    <p:anim calcmode="lin" valueType="num">
                                      <p:cBhvr additive="base">
                                        <p:cTn dur="500"/>
                                        <p:tgtEl>
                                          <p:spTgt spid="328"/>
                                        </p:tgtEl>
                                        <p:attrNameLst>
                                          <p:attrName>ppt_w</p:attrName>
                                        </p:attrNameLst>
                                      </p:cBhvr>
                                      <p:tavLst>
                                        <p:tav fmla="" tm="0">
                                          <p:val>
                                            <p:strVal val="0"/>
                                          </p:val>
                                        </p:tav>
                                        <p:tav fmla="" tm="100000">
                                          <p:val>
                                            <p:strVal val="#ppt_w"/>
                                          </p:val>
                                        </p:tav>
                                      </p:tavLst>
                                    </p:anim>
                                    <p:anim calcmode="lin" valueType="num">
                                      <p:cBhvr additive="base">
                                        <p:cTn dur="500"/>
                                        <p:tgtEl>
                                          <p:spTgt spid="32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10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3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36" name="Google Shape;336;p38"/>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37" name="Google Shape;337;p3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38" name="Google Shape;338;p3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39" name="Google Shape;339;p38"/>
          <p:cNvSpPr txBox="1"/>
          <p:nvPr/>
        </p:nvSpPr>
        <p:spPr>
          <a:xfrm>
            <a:off x="891500" y="1560800"/>
            <a:ext cx="8622300" cy="9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3F3F3F"/>
                </a:solidFill>
                <a:latin typeface="Trebuchet MS"/>
                <a:ea typeface="Trebuchet MS"/>
                <a:cs typeface="Trebuchet MS"/>
                <a:sym typeface="Trebuchet MS"/>
              </a:rPr>
              <a:t>Link: </a:t>
            </a:r>
            <a:br>
              <a:rPr lang="en-US" sz="1800">
                <a:solidFill>
                  <a:srgbClr val="3F3F3F"/>
                </a:solidFill>
                <a:latin typeface="Trebuchet MS"/>
                <a:ea typeface="Trebuchet MS"/>
                <a:cs typeface="Trebuchet MS"/>
                <a:sym typeface="Trebuchet MS"/>
              </a:rPr>
            </a:br>
            <a:r>
              <a:rPr lang="en-US" sz="1800" u="sng">
                <a:solidFill>
                  <a:schemeClr val="hlink"/>
                </a:solidFill>
                <a:latin typeface="Trebuchet MS"/>
                <a:ea typeface="Trebuchet MS"/>
                <a:cs typeface="Trebuchet MS"/>
                <a:sym typeface="Trebuchet MS"/>
                <a:hlinkClick r:id="rId4"/>
              </a:rPr>
              <a:t>https://github.com/sreeniranjan10ks-max/Seasonal-Agriculture-Performance-Analysis.git</a:t>
            </a:r>
            <a:endParaRPr sz="18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500"/>
                                        <p:tgtEl>
                                          <p:spTgt spid="336"/>
                                        </p:tgtEl>
                                        <p:attrNameLst>
                                          <p:attrName>ppt_w</p:attrName>
                                        </p:attrNameLst>
                                      </p:cBhvr>
                                      <p:tavLst>
                                        <p:tav fmla="" tm="0">
                                          <p:val>
                                            <p:strVal val="0"/>
                                          </p:val>
                                        </p:tav>
                                        <p:tav fmla="" tm="100000">
                                          <p:val>
                                            <p:strVal val="#ppt_w"/>
                                          </p:val>
                                        </p:tav>
                                      </p:tavLst>
                                    </p:anim>
                                    <p:anim calcmode="lin" valueType="num">
                                      <p:cBhvr additive="base">
                                        <p:cTn dur="500"/>
                                        <p:tgtEl>
                                          <p:spTgt spid="33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3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45" name="Google Shape;345;p39"/>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p:txBody>
      </p:sp>
      <p:sp>
        <p:nvSpPr>
          <p:cNvPr id="346" name="Google Shape;346;p3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47" name="Google Shape;347;p3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48" name="Google Shape;348;p39" title="Screenshot (168).png"/>
          <p:cNvPicPr preferRelativeResize="0"/>
          <p:nvPr/>
        </p:nvPicPr>
        <p:blipFill>
          <a:blip r:embed="rId4">
            <a:alphaModFix/>
          </a:blip>
          <a:stretch>
            <a:fillRect/>
          </a:stretch>
        </p:blipFill>
        <p:spPr>
          <a:xfrm>
            <a:off x="2390075" y="1511925"/>
            <a:ext cx="7985925" cy="5193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45"/>
                                        </p:tgtEl>
                                        <p:attrNameLst>
                                          <p:attrName>style.visibility</p:attrName>
                                        </p:attrNameLst>
                                      </p:cBhvr>
                                      <p:to>
                                        <p:strVal val="visible"/>
                                      </p:to>
                                    </p:set>
                                    <p:anim calcmode="lin" valueType="num">
                                      <p:cBhvr additive="base">
                                        <p:cTn dur="500"/>
                                        <p:tgtEl>
                                          <p:spTgt spid="345"/>
                                        </p:tgtEl>
                                        <p:attrNameLst>
                                          <p:attrName>ppt_w</p:attrName>
                                        </p:attrNameLst>
                                      </p:cBhvr>
                                      <p:tavLst>
                                        <p:tav fmla="" tm="0">
                                          <p:val>
                                            <p:strVal val="0"/>
                                          </p:val>
                                        </p:tav>
                                        <p:tav fmla="" tm="100000">
                                          <p:val>
                                            <p:strVal val="#ppt_w"/>
                                          </p:val>
                                        </p:tav>
                                      </p:tavLst>
                                    </p:anim>
                                    <p:anim calcmode="lin" valueType="num">
                                      <p:cBhvr additive="base">
                                        <p:cTn dur="500"/>
                                        <p:tgtEl>
                                          <p:spTgt spid="3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1000"/>
                                        <p:tgtEl>
                                          <p:spTgt spid="3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1000"/>
                                        <p:tgtEl>
                                          <p:spTgt spid="3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54" name="Google Shape;354;p40"/>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55" name="Google Shape;355;p40"/>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56" name="Google Shape;356;p40"/>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57" name="Google Shape;357;p40"/>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58" name="Google Shape;358;p40"/>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59" name="Google Shape;359;p40"/>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60" name="Google Shape;360;p4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61" name="Google Shape;361;p40"/>
          <p:cNvSpPr txBox="1"/>
          <p:nvPr>
            <p:ph idx="7" type="body"/>
          </p:nvPr>
        </p:nvSpPr>
        <p:spPr>
          <a:xfrm>
            <a:off x="2975043" y="3962582"/>
            <a:ext cx="5260800" cy="1631700"/>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600"/>
              <a:buFont typeface="Arial"/>
              <a:buNone/>
            </a:pPr>
            <a:r>
              <a:t/>
            </a:r>
            <a:endParaRPr b="0" sz="2118">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500"/>
                                        <p:tgtEl>
                                          <p:spTgt spid="353"/>
                                        </p:tgtEl>
                                        <p:attrNameLst>
                                          <p:attrName>ppt_w</p:attrName>
                                        </p:attrNameLst>
                                      </p:cBhvr>
                                      <p:tavLst>
                                        <p:tav fmla="" tm="0">
                                          <p:val>
                                            <p:strVal val="0"/>
                                          </p:val>
                                        </p:tav>
                                        <p:tav fmla="" tm="100000">
                                          <p:val>
                                            <p:strVal val="#ppt_w"/>
                                          </p:val>
                                        </p:tav>
                                      </p:tavLst>
                                    </p:anim>
                                    <p:anim calcmode="lin" valueType="num">
                                      <p:cBhvr additive="base">
                                        <p:cTn dur="500"/>
                                        <p:tgtEl>
                                          <p:spTgt spid="35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xEl>
                                              <p:pRg end="0" st="0"/>
                                            </p:txEl>
                                          </p:spTgt>
                                        </p:tgtEl>
                                        <p:attrNameLst>
                                          <p:attrName>style.visibility</p:attrName>
                                        </p:attrNameLst>
                                      </p:cBhvr>
                                      <p:to>
                                        <p:strVal val="visible"/>
                                      </p:to>
                                    </p:set>
                                    <p:animEffect filter="fade" transition="in">
                                      <p:cBhvr>
                                        <p:cTn dur="500"/>
                                        <p:tgtEl>
                                          <p:spTgt spid="3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